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26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B496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840480" cy="3840480"/>
          </a:xfrm>
          <a:prstGeom prst="ellipse">
            <a:avLst/>
          </a:prstGeom>
          <a:solidFill>
            <a:srgbClr val="1B496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274320"/>
            <a:ext cx="2194560" cy="2194560"/>
          </a:xfrm>
          <a:prstGeom prst="ellipse">
            <a:avLst/>
          </a:prstGeom>
          <a:solidFill>
            <a:srgbClr val="4FD1C5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0080"/>
            <a:ext cx="777240" cy="7772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icons/shield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8149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63068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FUNDAMENTALS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0" y="2636520"/>
            <a:ext cx="1219199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and Applications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22291" y="5257800"/>
            <a:ext cx="5486400" cy="908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Yarra Pawan (192424294)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Loganath (192424399)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989A37-8349-27A9-012C-FCE3BE12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123143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Text 8">
            <a:extLst>
              <a:ext uri="{FF2B5EF4-FFF2-40B4-BE49-F238E27FC236}">
                <a16:creationId xmlns:a16="http://schemas.microsoft.com/office/drawing/2014/main" id="{340A8B14-C38C-C575-0081-85BBB4C34985}"/>
              </a:ext>
            </a:extLst>
          </p:cNvPr>
          <p:cNvSpPr/>
          <p:nvPr/>
        </p:nvSpPr>
        <p:spPr>
          <a:xfrm>
            <a:off x="937260" y="5257799"/>
            <a:ext cx="3322320" cy="908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B99AE3-06FA-75F6-98DD-04C4D3DB201C}"/>
              </a:ext>
            </a:extLst>
          </p:cNvPr>
          <p:cNvSpPr txBox="1"/>
          <p:nvPr/>
        </p:nvSpPr>
        <p:spPr>
          <a:xfrm>
            <a:off x="2514600" y="3344481"/>
            <a:ext cx="7223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">
              <a:buNone/>
            </a:pPr>
            <a:r>
              <a:rPr lang="en-IN" sz="3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CSA1503 - CLOUD COMPUTING AND BIG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6" name="Image 0" descr="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1899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Security Matters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2585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stakes, the scale, and the shift in risk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048256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1" name="Image 1" descr="icons/lay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1899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Security Models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2585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Zero Trust, and Defense in Depth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729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529584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6" name="Image 2" descr="icons/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67131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55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provider's job ends and yours begins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1729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529584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1" name="Image 3" descr="icons/settin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367131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355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Security Practices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encryption, and continuous monitoring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010912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6" name="Image 4" descr="icons/aler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15264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54480" y="522122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a real cloud breach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46542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5010912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31" name="Image 5" descr="icons/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964" y="515264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78040" y="522122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checklist to apply today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SECURITY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Are Higher Than Ever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organizations move workloads to the cloud, the attack surface — and the cost of getting it wrong — grows with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B4965">
              <a:alpha val="75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$4.44M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global cost of a data breach in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3672" y="21945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B4965">
              <a:alpha val="75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$5.05M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62272" y="34747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when breached data spans multiple environments (public/private cloud + on-prem)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62272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18704" y="219456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B4965">
              <a:alpha val="75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47304" y="34747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exposed in a single misconfigured cloud firewall (2019)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47304" y="50749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case study, later in this deck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CIA Triad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cloud security control ultimately serves one of three goals.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429000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86000"/>
            <a:ext cx="658368" cy="65836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8" name="Image 0" descr="icons/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505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and systems can view sensitive data — enforced through encryption, IAM, and access controls.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33672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33672" y="1965960"/>
            <a:ext cx="3429000" cy="73152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3" name="Shape 10"/>
          <p:cNvSpPr/>
          <p:nvPr/>
        </p:nvSpPr>
        <p:spPr>
          <a:xfrm>
            <a:off x="4462272" y="2286000"/>
            <a:ext cx="658368" cy="65836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4" name="Image 1" descr="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4505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62272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462272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applications remain accurate and unaltered — protected by checksums, versioning, and change controls.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18704" y="196596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918704" y="1965960"/>
            <a:ext cx="3429000" cy="731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9" name="Shape 15"/>
          <p:cNvSpPr/>
          <p:nvPr/>
        </p:nvSpPr>
        <p:spPr>
          <a:xfrm>
            <a:off x="8147304" y="2286000"/>
            <a:ext cx="658368" cy="65836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0" name="Image 2" descr="icons/activit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45059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47304" y="31089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147304" y="35661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data stay accessible when needed — supported by redundancy, backups, and DDoS protection.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Trust: “Never Trust, Always Verify”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assumed anything inside the network perimeter was safe. Zero Trust removes that assumption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74920" cy="3977640"/>
          </a:xfrm>
          <a:prstGeom prst="roundRect">
            <a:avLst>
              <a:gd name="adj" fmla="val 1839"/>
            </a:avLst>
          </a:prstGeom>
          <a:solidFill>
            <a:srgbClr val="EAF0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MODEL (LEGACY)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everything inside the firewall; verify only at the network edge.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337560"/>
            <a:ext cx="109728" cy="109728"/>
          </a:xfrm>
          <a:prstGeom prst="ellipse">
            <a:avLst/>
          </a:prstGeom>
          <a:solidFill>
            <a:srgbClr val="5A6B7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00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inside the perimeter → broad lateral access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904488"/>
            <a:ext cx="109728" cy="109728"/>
          </a:xfrm>
          <a:prstGeom prst="ellipse">
            <a:avLst/>
          </a:prstGeom>
          <a:solidFill>
            <a:srgbClr val="5A6B7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673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trust for internal users and devices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71416"/>
            <a:ext cx="109728" cy="109728"/>
          </a:xfrm>
          <a:prstGeom prst="ellipse">
            <a:avLst/>
          </a:prstGeom>
          <a:solidFill>
            <a:srgbClr val="5A6B7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3425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for cloud, remote work, and APIs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965960"/>
            <a:ext cx="5806440" cy="3977640"/>
          </a:xfrm>
          <a:prstGeom prst="roundRect">
            <a:avLst>
              <a:gd name="adj" fmla="val 1839"/>
            </a:avLst>
          </a:prstGeom>
          <a:solidFill>
            <a:srgbClr val="10243E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5603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explicitly, every time, for every request — regardless of origin.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3246120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18" name="Image 0" descr="icons/ke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171" y="3332531"/>
            <a:ext cx="211226" cy="21122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583680" y="319125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&amp; device for every request, not just at login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0760" y="3904488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1" name="Image 1" descr="icons/lo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171" y="3990899"/>
            <a:ext cx="211226" cy="21122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0" y="384962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least-privilege access, scoped to the specific task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80760" y="4562856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4" name="Image 2" descr="icons/lay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171" y="4649267"/>
            <a:ext cx="211226" cy="21122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450799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 networks to contain any breach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080760" y="5221224"/>
            <a:ext cx="384048" cy="384048"/>
          </a:xfrm>
          <a:prstGeom prst="ellipse">
            <a:avLst/>
          </a:prstGeom>
          <a:solidFill>
            <a:srgbClr val="4FD1C5"/>
          </a:solidFill>
          <a:ln/>
        </p:spPr>
      </p:sp>
      <p:pic>
        <p:nvPicPr>
          <p:cNvPr id="27" name="Image 3" descr="icons/ey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171" y="5307635"/>
            <a:ext cx="211226" cy="21122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83680" y="51663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and log all access in real time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controls so that no single point of failure compromises the whole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29400" y="1828800"/>
            <a:ext cx="4297680" cy="4297680"/>
          </a:xfrm>
          <a:prstGeom prst="ellipse">
            <a:avLst/>
          </a:prstGeom>
          <a:solidFill>
            <a:srgbClr val="1B4965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2286000"/>
            <a:ext cx="3383280" cy="3383280"/>
          </a:xfrm>
          <a:prstGeom prst="ellipse">
            <a:avLst/>
          </a:prstGeom>
          <a:solidFill>
            <a:srgbClr val="1B4965">
              <a:alpha val="7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2743200"/>
            <a:ext cx="2468880" cy="2468880"/>
          </a:xfrm>
          <a:prstGeom prst="ellipse">
            <a:avLst/>
          </a:prstGeom>
          <a:solidFill>
            <a:srgbClr val="1B4965">
              <a:alpha val="5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3200400"/>
            <a:ext cx="1554480" cy="1554480"/>
          </a:xfrm>
          <a:prstGeom prst="ellipse">
            <a:avLst/>
          </a:prstGeom>
          <a:solidFill>
            <a:srgbClr val="4FD1C5">
              <a:alpha val="90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67344" y="3666744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3822192"/>
            <a:ext cx="310896" cy="3108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1965960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1965960"/>
            <a:ext cx="73152" cy="8046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&amp; Network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23682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WAF, DDoS protection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926080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926080"/>
            <a:ext cx="73152" cy="8046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77240" y="33284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least privilege, IAM policies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3886200"/>
            <a:ext cx="73152" cy="80467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7240" y="4288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coding, input validation, patching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846320"/>
            <a:ext cx="41605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846320"/>
            <a:ext cx="73152" cy="804672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937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(the core)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52486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and in transit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Shared Job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misunderstood concept in cloud security: the provider secures the cloud — you secure what's in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1B496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SECURES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OF the Cloud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9" name="Image 0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3284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2004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centers &amp; hardware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904488"/>
            <a:ext cx="365760" cy="36576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2" name="Image 1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8678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858768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 infrastructure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4562856"/>
            <a:ext cx="365760" cy="36576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5" name="Image 2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64515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5171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operating system &amp; virtualization layer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22960" y="5221224"/>
            <a:ext cx="365760" cy="36576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8" name="Image 3" descr="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30352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175504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managed-service infrastructure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989320" y="2057400"/>
            <a:ext cx="562356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636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SECURES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263640" y="2578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 the Cloud</a:t>
            </a:r>
            <a:endParaRPr lang="en-US" sz="1900" dirty="0"/>
          </a:p>
        </p:txBody>
      </p:sp>
      <p:sp>
        <p:nvSpPr>
          <p:cNvPr id="23" name="Shape 17"/>
          <p:cNvSpPr/>
          <p:nvPr/>
        </p:nvSpPr>
        <p:spPr>
          <a:xfrm>
            <a:off x="6263640" y="3246120"/>
            <a:ext cx="365760" cy="36576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4" name="Image 4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32841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766560" y="32004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&amp; encryption choices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263640" y="3904488"/>
            <a:ext cx="365760" cy="36576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7" name="Image 5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3986784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66560" y="38587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access management &amp; permissions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63640" y="4562856"/>
            <a:ext cx="365760" cy="36576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30" name="Image 6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4645152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66560" y="45171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security &amp; code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63640" y="5221224"/>
            <a:ext cx="365760" cy="36576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33" name="Image 7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530352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66560" y="51755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OS/network configuration (varies by service)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Shifts With Service 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the provider manages, the more of the stack falls on them — but data and access are always yours.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97680" y="1508760"/>
            <a:ext cx="1719072" cy="411480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50876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1719072" cy="411480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50876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1719072" cy="411480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150876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784080" y="1508760"/>
            <a:ext cx="1719072" cy="411480"/>
          </a:xfrm>
          <a:prstGeom prst="roundRect">
            <a:avLst>
              <a:gd name="adj" fmla="val 11111"/>
            </a:avLst>
          </a:prstGeom>
          <a:solidFill>
            <a:srgbClr val="10243E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1508760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10954512" cy="457200"/>
          </a:xfrm>
          <a:prstGeom prst="rect">
            <a:avLst/>
          </a:prstGeom>
          <a:solidFill>
            <a:srgbClr val="EAF0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Access Control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38344" y="21214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67144" y="21214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5944" y="21214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4744" y="21214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68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38344" y="25786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2" name="Shape 20"/>
          <p:cNvSpPr/>
          <p:nvPr/>
        </p:nvSpPr>
        <p:spPr>
          <a:xfrm>
            <a:off x="6867144" y="25786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3" name="Shape 21"/>
          <p:cNvSpPr/>
          <p:nvPr/>
        </p:nvSpPr>
        <p:spPr>
          <a:xfrm>
            <a:off x="8695944" y="25786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24744" y="25786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926080"/>
            <a:ext cx="10954512" cy="457200"/>
          </a:xfrm>
          <a:prstGeom prst="rect">
            <a:avLst/>
          </a:prstGeom>
          <a:solidFill>
            <a:srgbClr val="EAF0F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Middleware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38344" y="30358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8" name="Shape 26"/>
          <p:cNvSpPr/>
          <p:nvPr/>
        </p:nvSpPr>
        <p:spPr>
          <a:xfrm>
            <a:off x="6867144" y="30358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9" name="Shape 27"/>
          <p:cNvSpPr/>
          <p:nvPr/>
        </p:nvSpPr>
        <p:spPr>
          <a:xfrm>
            <a:off x="8695944" y="30358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24744" y="30358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38344" y="34930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3" name="Shape 31"/>
          <p:cNvSpPr/>
          <p:nvPr/>
        </p:nvSpPr>
        <p:spPr>
          <a:xfrm>
            <a:off x="6867144" y="34930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4" name="Shape 32"/>
          <p:cNvSpPr/>
          <p:nvPr/>
        </p:nvSpPr>
        <p:spPr>
          <a:xfrm>
            <a:off x="8695944" y="34930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24744" y="34930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840480"/>
            <a:ext cx="10954512" cy="457200"/>
          </a:xfrm>
          <a:prstGeom prst="rect">
            <a:avLst/>
          </a:prstGeom>
          <a:solidFill>
            <a:srgbClr val="EAF0F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38344" y="39502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9" name="Shape 37"/>
          <p:cNvSpPr/>
          <p:nvPr/>
        </p:nvSpPr>
        <p:spPr>
          <a:xfrm>
            <a:off x="6867144" y="39502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0" name="Shape 38"/>
          <p:cNvSpPr/>
          <p:nvPr/>
        </p:nvSpPr>
        <p:spPr>
          <a:xfrm>
            <a:off x="8695944" y="39502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1" name="Shape 39"/>
          <p:cNvSpPr/>
          <p:nvPr/>
        </p:nvSpPr>
        <p:spPr>
          <a:xfrm>
            <a:off x="10524744" y="39502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297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/ Storage / Network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38344" y="44074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44" name="Shape 42"/>
          <p:cNvSpPr/>
          <p:nvPr/>
        </p:nvSpPr>
        <p:spPr>
          <a:xfrm>
            <a:off x="6867144" y="44074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5" name="Shape 43"/>
          <p:cNvSpPr/>
          <p:nvPr/>
        </p:nvSpPr>
        <p:spPr>
          <a:xfrm>
            <a:off x="8695944" y="44074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24744" y="44074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4754880"/>
            <a:ext cx="10954512" cy="457200"/>
          </a:xfrm>
          <a:prstGeom prst="rect">
            <a:avLst/>
          </a:prstGeom>
          <a:solidFill>
            <a:srgbClr val="EAF0F3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754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Facilities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038344" y="486460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0" name="Shape 48"/>
          <p:cNvSpPr/>
          <p:nvPr/>
        </p:nvSpPr>
        <p:spPr>
          <a:xfrm>
            <a:off x="6867144" y="48646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51" name="Shape 49"/>
          <p:cNvSpPr/>
          <p:nvPr/>
        </p:nvSpPr>
        <p:spPr>
          <a:xfrm>
            <a:off x="8695944" y="48646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24744" y="4864608"/>
            <a:ext cx="237744" cy="237744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53" name="Shape 51"/>
          <p:cNvSpPr/>
          <p:nvPr/>
        </p:nvSpPr>
        <p:spPr>
          <a:xfrm>
            <a:off x="548640" y="5989320"/>
            <a:ext cx="182880" cy="18288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4" name="Text 52"/>
          <p:cNvSpPr/>
          <p:nvPr/>
        </p:nvSpPr>
        <p:spPr>
          <a:xfrm>
            <a:off x="804672" y="5925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responsibility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017520" y="5989320"/>
            <a:ext cx="182880" cy="18288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56" name="Text 54"/>
          <p:cNvSpPr/>
          <p:nvPr/>
        </p:nvSpPr>
        <p:spPr>
          <a:xfrm>
            <a:off x="3273552" y="5925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responsibility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6" name="Image 0" descr="icons/ke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is the front door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cloud breaches trace back to identity failures — over-permissioned roles, leaked keys, or missing MFA — not exotic exploits.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4251960"/>
            <a:ext cx="4114800" cy="0"/>
          </a:xfrm>
          <a:prstGeom prst="line">
            <a:avLst/>
          </a:prstGeom>
          <a:noFill/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rule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the minimum access needed, for the minimum time needed.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715000" y="178308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3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730" y="19088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17556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0" y="208483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roles narrowly; avoid wildcard permissions and standing admin rights.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715000" y="2862072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7" name="Image 2" descr="icons/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0730" y="298780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834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0" y="316382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MFA for all users, especially privileged and root/owner accounts.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715000" y="3941064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21" name="Image 3" descr="icons/refresh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730" y="406679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39136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Credentials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424281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temporary, auto-rotating tokens instead of long-lived access keys.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715000" y="5020056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25" name="Image 4" descr="icons/ey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0730" y="5145786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0" y="499262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400800" y="53218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audit who has access to what, and remove what's unused.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Data Everywhere It Lives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the last line of defense — if every other control fails, encrypted data still protects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4965">
              <a:alpha val="70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50008"/>
            <a:ext cx="621792" cy="62179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0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5054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storage — disks, databases, backups. Protect with AES-256 and provider- or customer-managed keys.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20574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4965">
              <a:alpha val="70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62272" y="2350008"/>
            <a:ext cx="621792" cy="62179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2" name="Image 1" descr="icons/activit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0545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Transit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62272" y="35204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moving across networks. Protect with TLS 1.2+/1.3 for every internal and external connection.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20574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B4965">
              <a:alpha val="70000"/>
            </a:srgbClr>
          </a:solidFill>
          <a:ln w="9525">
            <a:solidFill>
              <a:srgbClr val="4FD1C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47304" y="2350008"/>
            <a:ext cx="621792" cy="62179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7" name="Image 2" descr="icons/ey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250545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47304" y="3108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D1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47304" y="352044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actively being processed in memory. Protect with confidential computing / trusted execution environments.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key: centralized key management, key rotation policies, and separating who manages keys from who accesses data.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Incident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secure what you can't see. Continuous visibility turns an inevitable incident into a contained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677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8" name="Image 0" descr="icons/ey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26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logging, cloud-native threat detection, and anomaly alerts across every account and region.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82112" y="3063240"/>
            <a:ext cx="146304" cy="0"/>
          </a:xfrm>
          <a:prstGeom prst="line">
            <a:avLst/>
          </a:prstGeom>
          <a:noFill/>
          <a:ln w="19050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55848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38728" y="22677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538728" y="2788920"/>
            <a:ext cx="548640" cy="54864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5" name="Image 1" descr="icons/targ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29260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872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538728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signals, assess blast radius, and prioritize based on data sensitivity and exposure.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89320" y="3063240"/>
            <a:ext cx="146304" cy="0"/>
          </a:xfrm>
          <a:prstGeom prst="line">
            <a:avLst/>
          </a:prstGeom>
          <a:noFill/>
          <a:ln w="19050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163056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345936" y="22677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6345936" y="2788920"/>
            <a:ext cx="548640" cy="54864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2" name="Image 2" descr="icons/za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29260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345936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affected resources, revoke compromised credentials, and stop lateral movement fast.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796528" y="3063240"/>
            <a:ext cx="146304" cy="0"/>
          </a:xfrm>
          <a:prstGeom prst="line">
            <a:avLst/>
          </a:prstGeom>
          <a:noFill/>
          <a:ln w="19050">
            <a:solidFill>
              <a:srgbClr val="1B4965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970264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4965">
                <a:alpha val="14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153144" y="22677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DE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153144" y="2788920"/>
            <a:ext cx="548640" cy="548640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9" name="Image 3" descr="icons/gitbranch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92608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53144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&amp; Review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153144" y="3913632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clean backups, patch the root cause, and run a blameless post-incident review.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Shared Responsibility Breaks 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1B4965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· CAPITAL 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Misconfigured Firewall, 106 Million Records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One's web application firewall, hosted on AWS, was misconfigured with overly broad permissions. An attacker exploited a server-side request forgery (SSRF) flaw to query the cloud's internal metadata service, retrieve temporary credentials, and pull data from storage buckets — undetected for nearly four months.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not a failure of the cloud platform's infrastructure — it was a failure of customer-side configuration and access control.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5623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29600" y="16916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exposed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3136392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30098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3136392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undetected in the environment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4581144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74573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4581144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penalty imposed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59436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causes: an over-permissioned IAM role + an exploitable application flaw + a misunderstanding of the shared responsibility model.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48256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6" name="Image 0" descr="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1899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model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2585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Zero Trust, and Defense in Depth are complementary, not competing frameworks.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2048256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1" name="Image 1" descr="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18998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745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half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2585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secures the cloud; you secure your data, identities, and configurations in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729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529584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16" name="Image 2" descr="icons/ke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367131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55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the perimeter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MFA, and short-lived credentials stop most real-world breaches.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172968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529584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1" name="Image 3" descr="icons/lo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367131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3558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by default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3739896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rest, in transit, and increasingly in use — with disciplined key management.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010912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26" name="Image 4" descr="icons/ey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515264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you'll be tested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54480" y="522122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and a practiced incident response plan limit the damage.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654296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4965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5010912"/>
            <a:ext cx="566928" cy="566928"/>
          </a:xfrm>
          <a:prstGeom prst="ellipse">
            <a:avLst/>
          </a:prstGeom>
          <a:solidFill>
            <a:srgbClr val="E4ECF1"/>
          </a:solidFill>
          <a:ln/>
        </p:spPr>
      </p:sp>
      <p:pic>
        <p:nvPicPr>
          <p:cNvPr id="31" name="Image 5" descr="icons/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9964" y="515264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83717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shared line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78040" y="5221224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verify what you assume the provider handles is actually being handled.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669280" cy="5669280"/>
          </a:xfrm>
          <a:prstGeom prst="ellipse">
            <a:avLst/>
          </a:prstGeom>
          <a:solidFill>
            <a:srgbClr val="1B496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840480" cy="3840480"/>
          </a:xfrm>
          <a:prstGeom prst="ellipse">
            <a:avLst/>
          </a:prstGeom>
          <a:solidFill>
            <a:srgbClr val="1B496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97296" y="1920240"/>
            <a:ext cx="868680" cy="86868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5" name="Image 0" descr="icons/shield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749" y="211569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30632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Everyone's Responsibility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12720" y="4546472"/>
            <a:ext cx="6979920" cy="718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i="1" dirty="0">
                <a:solidFill>
                  <a:srgbClr val="4FD1C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 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1179</Words>
  <Application>Microsoft Office PowerPoint</Application>
  <PresentationFormat>Widescreen</PresentationFormat>
  <Paragraphs>191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Yarra Pawan</cp:lastModifiedBy>
  <cp:revision>3</cp:revision>
  <dcterms:created xsi:type="dcterms:W3CDTF">2026-07-17T08:41:14Z</dcterms:created>
  <dcterms:modified xsi:type="dcterms:W3CDTF">2026-07-22T08:53:17Z</dcterms:modified>
</cp:coreProperties>
</file>